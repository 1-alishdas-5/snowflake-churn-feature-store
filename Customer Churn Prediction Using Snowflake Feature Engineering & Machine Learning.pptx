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Kingred Modern" charset="1" panose="00000000000000000000"/>
      <p:regular r:id="rId21"/>
    </p:embeddedFont>
    <p:embeddedFont>
      <p:font typeface="Helvetica World" charset="1" panose="020B050004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2486" y="1982680"/>
            <a:ext cx="16803028" cy="377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9"/>
              </a:lnSpc>
            </a:pPr>
            <a:r>
              <a:rPr lang="en-US" sz="7206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CUSTOMER CHURN PREDICTION USING SNOWFLAKE FEATURE ENGINEERING &amp; MACHINE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2982" y="7793257"/>
            <a:ext cx="10162036" cy="7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: Alish 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0348" y="9201150"/>
            <a:ext cx="17487305" cy="46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8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TOPICS: SNOWFLAKE | FEATURE ENGINEERING | FEATURE STORE | DATA PIPELINE | CHURN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272" y="895350"/>
            <a:ext cx="16803028" cy="122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9"/>
              </a:lnSpc>
            </a:pPr>
            <a:r>
              <a:rPr lang="en-US" sz="7206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BUSINESS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9749"/>
            <a:ext cx="16230600" cy="617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38" indent="-377819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Subscription businesses (telecom, SaaS, banking) lose revenue due to customer churn.</a:t>
            </a:r>
          </a:p>
          <a:p>
            <a:pPr algn="l" marL="755638" indent="-377819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prediction enables:</a:t>
            </a:r>
          </a:p>
          <a:p>
            <a:pPr algn="l" marL="1511275" indent="-503758" lvl="2">
              <a:lnSpc>
                <a:spcPts val="4899"/>
              </a:lnSpc>
              <a:buAutoNum type="alphaL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Early identification of at-risk customers</a:t>
            </a:r>
          </a:p>
          <a:p>
            <a:pPr algn="l" marL="1511275" indent="-503758" lvl="2">
              <a:lnSpc>
                <a:spcPts val="4899"/>
              </a:lnSpc>
              <a:buAutoNum type="alphaL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Targeted retention campaigns</a:t>
            </a:r>
          </a:p>
          <a:p>
            <a:pPr algn="l" marL="1511275" indent="-503758" lvl="2">
              <a:lnSpc>
                <a:spcPts val="4899"/>
              </a:lnSpc>
              <a:buAutoNum type="alphaL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Improved customer lifetime value</a:t>
            </a:r>
          </a:p>
          <a:p>
            <a:pPr algn="l" marL="1511275" indent="-503758" lvl="2">
              <a:lnSpc>
                <a:spcPts val="4899"/>
              </a:lnSpc>
              <a:buAutoNum type="alphaL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Data-driven business decisions</a:t>
            </a:r>
          </a:p>
          <a:p>
            <a:pPr algn="ctr">
              <a:lnSpc>
                <a:spcPts val="4899"/>
              </a:lnSpc>
            </a:pPr>
          </a:p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bjective: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Building an end-to-end churn prediction pipeline on Snowflake using feature engineering and a feature store.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30232" y="2259866"/>
            <a:ext cx="6927056" cy="67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sz="3898">
                <a:solidFill>
                  <a:srgbClr val="000000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WHY CHURN PREDICTION 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2486" y="1359421"/>
            <a:ext cx="16803028" cy="100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9"/>
              </a:lnSpc>
            </a:pPr>
            <a:r>
              <a:rPr lang="en-US" sz="5806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INTRODUCTION TO FEATURE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44820"/>
            <a:ext cx="16230600" cy="617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38" indent="-377819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is Feature Engineering?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Converting raw data into meaningful features that improve ML model 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performance.</a:t>
            </a:r>
          </a:p>
          <a:p>
            <a:pPr algn="l">
              <a:lnSpc>
                <a:spcPts val="4899"/>
              </a:lnSpc>
            </a:pPr>
          </a:p>
          <a:p>
            <a:pPr algn="l" marL="755638" indent="-377819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is it Important?</a:t>
            </a:r>
          </a:p>
          <a:p>
            <a:pPr algn="l">
              <a:lnSpc>
                <a:spcPts val="4899"/>
              </a:lnSpc>
            </a:pPr>
          </a:p>
          <a:p>
            <a:pPr algn="l" marL="755638" indent="-377819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ML model success depends 80% on features, 20% on algorithms.</a:t>
            </a:r>
          </a:p>
          <a:p>
            <a:pPr algn="l" marL="755638" indent="-377819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Good features reduce model complexity and improve accuracy.</a:t>
            </a:r>
          </a:p>
          <a:p>
            <a:pPr algn="l" marL="755638" indent="-377819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49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Features enable consistent predictions across training and production.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230600" cy="212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COMMON FEATURE ENGINEERING TECHNIQUES: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45457"/>
            <a:ext cx="16230600" cy="484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Normalization / Standardization (scaling numerical values)</a:t>
            </a:r>
          </a:p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One-hot encoding (categorical variables)</a:t>
            </a:r>
          </a:p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Time-based aggregations (rolling averages, lag features)</a:t>
            </a:r>
          </a:p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Missing value treatment (imputation, removal)</a:t>
            </a:r>
          </a:p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Binning (discretizing continuous variables)</a:t>
            </a:r>
          </a:p>
          <a:p>
            <a:pPr algn="l" marL="873903" indent="-436951" lvl="1">
              <a:lnSpc>
                <a:spcPts val="5666"/>
              </a:lnSpc>
              <a:buAutoNum type="arabicPeriod" startAt="1"/>
            </a:pP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0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scaling (min-max, z-score)</a:t>
            </a:r>
          </a:p>
          <a:p>
            <a:pPr algn="ctr">
              <a:lnSpc>
                <a:spcPts val="45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22929"/>
            <a:ext cx="16230600" cy="34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Snowflake's Role in the ML Pipeline</a:t>
            </a:r>
          </a:p>
          <a:p>
            <a:pPr algn="l">
              <a:lnSpc>
                <a:spcPts val="4546"/>
              </a:lnSpc>
            </a:pP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Storage: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Stores raw, structured, and semi-structured data in scalable tables.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Processing: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SQL-based data cleaning, validation, and aggregation.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Integration: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Seamless integration with Python (Snowpark) for ML workflows.</a:t>
            </a:r>
          </a:p>
          <a:p>
            <a:pPr algn="l">
              <a:lnSpc>
                <a:spcPts val="454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230600" cy="212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SNOWFLAKE FOR DATA STORAGE &amp; 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159" y="6462996"/>
            <a:ext cx="16230600" cy="279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Benefits</a:t>
            </a:r>
          </a:p>
          <a:p>
            <a:pPr algn="l">
              <a:lnSpc>
                <a:spcPts val="4478"/>
              </a:lnSpc>
              <a:spcBef>
                <a:spcPct val="0"/>
              </a:spcBef>
            </a:pPr>
          </a:p>
          <a:p>
            <a:pPr algn="l" marL="690591" indent="-345295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Centralized data governance</a:t>
            </a:r>
          </a:p>
          <a:p>
            <a:pPr algn="l" marL="690591" indent="-345295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Scalable compute (Snowflake warehouses)</a:t>
            </a:r>
          </a:p>
          <a:p>
            <a:pPr algn="l" marL="690591" indent="-345295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Native ML capabilities (Snowpark)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7495" y="904875"/>
            <a:ext cx="11453010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FEATURE STORE CONCEPTS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66142"/>
            <a:ext cx="16230600" cy="68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is a Feature Store?</a:t>
            </a:r>
          </a:p>
          <a:p>
            <a:pPr algn="l">
              <a:lnSpc>
                <a:spcPts val="4546"/>
              </a:lnSpc>
            </a:pP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centralized repository to store, manage, and serve ML features for both training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and inference.</a:t>
            </a:r>
          </a:p>
          <a:p>
            <a:pPr algn="l">
              <a:lnSpc>
                <a:spcPts val="4546"/>
              </a:lnSpc>
            </a:pP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do we need a feature store?</a:t>
            </a:r>
          </a:p>
          <a:p>
            <a:pPr algn="l">
              <a:lnSpc>
                <a:spcPts val="4546"/>
              </a:lnSpc>
            </a:pP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Consistency: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Same features used during training and production.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Reusability: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Features engineered once, used by multiple models.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Faster Development: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Reduce redundant feature engineering across teams.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Offline/Online Access: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Support batch training and real-time inference.</a:t>
            </a:r>
          </a:p>
          <a:p>
            <a:pPr algn="l">
              <a:lnSpc>
                <a:spcPts val="454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E8EE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61329" y="2492865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1" y="0"/>
                </a:lnTo>
                <a:lnTo>
                  <a:pt x="540751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16230600" cy="104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DATA PIPELINE FLOW: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56296" y="2035796"/>
            <a:ext cx="5775409" cy="5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Raw Data (CSV) →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Snowflake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41244" y="2924854"/>
            <a:ext cx="600551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Raw Table (RAW_CUSTOMERS)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81136" y="3813854"/>
            <a:ext cx="772572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Cleaning (CLEANED_CUSTOMERS)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8926" y="4702854"/>
            <a:ext cx="1165014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Engineering (CUSTOMER_FEATURES = Feature Store)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86936" y="5591854"/>
            <a:ext cx="1111412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Train/Test Split (TRAIN_CUSTOMERS, TEST_CUSTOMERS)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3432" y="6480854"/>
            <a:ext cx="7181136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Rule-based Scoring (Snowpark Python)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53432" y="7369854"/>
            <a:ext cx="690657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Predictions (CHURN_PREDICTIONS)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14170" y="8258854"/>
            <a:ext cx="938510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Downstream (Dashboards, CRM, Business Actions)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146756" y="3480479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1" y="0"/>
                </a:lnTo>
                <a:lnTo>
                  <a:pt x="540751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06864" y="4369479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0" y="0"/>
                </a:lnTo>
                <a:lnTo>
                  <a:pt x="540750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69074" y="5258479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0" y="0"/>
                </a:lnTo>
                <a:lnTo>
                  <a:pt x="540750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87507" y="6170970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0" y="0"/>
                </a:lnTo>
                <a:lnTo>
                  <a:pt x="540750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02080" y="7059970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0" y="0"/>
                </a:lnTo>
                <a:lnTo>
                  <a:pt x="540750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60010" y="7948970"/>
            <a:ext cx="540751" cy="376559"/>
          </a:xfrm>
          <a:custGeom>
            <a:avLst/>
            <a:gdLst/>
            <a:ahLst/>
            <a:cxnLst/>
            <a:rect r="r" b="b" t="t" l="l"/>
            <a:pathLst>
              <a:path h="376559" w="540751">
                <a:moveTo>
                  <a:pt x="0" y="0"/>
                </a:moveTo>
                <a:lnTo>
                  <a:pt x="540751" y="0"/>
                </a:lnTo>
                <a:lnTo>
                  <a:pt x="540751" y="376559"/>
                </a:lnTo>
                <a:lnTo>
                  <a:pt x="0" y="37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230600" cy="104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SNOWFLAKE ENVIRONMENT SETUP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1093" y="2148550"/>
            <a:ext cx="5775409" cy="68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187" indent="-350594" lvl="1">
              <a:lnSpc>
                <a:spcPts val="4546"/>
              </a:lnSpc>
              <a:buAutoNum type="arabicPeriod" startAt="1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Created Snowflake free trial account on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Amazon AWS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 marL="701187" indent="-350594" lvl="1">
              <a:lnSpc>
                <a:spcPts val="4546"/>
              </a:lnSpc>
              <a:buAutoNum type="arabicPeriod" startAt="1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Initialized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COMPUTE_WH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warehouse (X-Small compute layer).</a:t>
            </a:r>
          </a:p>
          <a:p>
            <a:pPr algn="l" marL="701187" indent="-350594" lvl="1">
              <a:lnSpc>
                <a:spcPts val="4546"/>
              </a:lnSpc>
              <a:buAutoNum type="arabicPeriod" startAt="1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Created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CUSTOMER_DB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database with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PUBLIC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schema.</a:t>
            </a:r>
          </a:p>
          <a:p>
            <a:pPr algn="l" marL="701187" indent="-350594" lvl="1">
              <a:lnSpc>
                <a:spcPts val="4546"/>
              </a:lnSpc>
              <a:buAutoNum type="arabicPeriod" startAt="1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Uploaded customer churn CSV file into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RAW_CUSTOMERS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table.</a:t>
            </a:r>
          </a:p>
          <a:p>
            <a:pPr algn="l">
              <a:lnSpc>
                <a:spcPts val="454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992053" y="2148550"/>
            <a:ext cx="8102946" cy="639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  <a:spcBef>
                <a:spcPct val="0"/>
              </a:spcBef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RAW_CUSTOMERS Table Schema: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CUSTOMER_ID (INT)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TENURE (INT) – months with company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MONTHLY_CHARGES (FLOAT)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SUPPORT_CALLS (INT)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DATA_USAGE (FLOAT)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PLAN_TYPE (STRING)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PAYMENT_METHOD (STRING)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LAST_RECHARGE (DATE)</a:t>
            </a:r>
          </a:p>
          <a:p>
            <a:pPr algn="l" marL="658496" indent="-329248" lvl="1">
              <a:lnSpc>
                <a:spcPts val="4270"/>
              </a:lnSpc>
              <a:buFont typeface="Arial"/>
              <a:buChar char="•"/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(STRING) – Yes/No label</a:t>
            </a:r>
          </a:p>
          <a:p>
            <a:pPr algn="l">
              <a:lnSpc>
                <a:spcPts val="4270"/>
              </a:lnSpc>
              <a:spcBef>
                <a:spcPct val="0"/>
              </a:spcBef>
            </a:pPr>
            <a:r>
              <a:rPr lang="en-US" sz="30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Result: 500 customer records loaded and ready for processing.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130162"/>
            <a:ext cx="8115300" cy="3098283"/>
          </a:xfrm>
          <a:custGeom>
            <a:avLst/>
            <a:gdLst/>
            <a:ahLst/>
            <a:cxnLst/>
            <a:rect r="r" b="b" t="t" l="l"/>
            <a:pathLst>
              <a:path h="3098283" w="8115300">
                <a:moveTo>
                  <a:pt x="0" y="0"/>
                </a:moveTo>
                <a:lnTo>
                  <a:pt x="8115300" y="0"/>
                </a:lnTo>
                <a:lnTo>
                  <a:pt x="8115300" y="3098283"/>
                </a:lnTo>
                <a:lnTo>
                  <a:pt x="0" y="3098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230600" cy="104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DATA VALIDATION &amp;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69706"/>
            <a:ext cx="7178156" cy="68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Quality Checks Performed:</a:t>
            </a:r>
          </a:p>
          <a:p>
            <a:pPr algn="just">
              <a:lnSpc>
                <a:spcPts val="4546"/>
              </a:lnSpc>
            </a:pP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Null values in critical fields (tenure, charges, churn label)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Invalid charges (negative or zero values)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Invalid tenure (negative values)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Invalid churn labels (not 'Yes' or 'No')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Duplicate records based on CUSTOMER_ID</a:t>
            </a:r>
          </a:p>
          <a:p>
            <a:pPr algn="just">
              <a:lnSpc>
                <a:spcPts val="454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871127" y="2369706"/>
            <a:ext cx="266104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Cleaning SQL: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6371320"/>
            <a:ext cx="8115300" cy="145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Result: 500 rows validated; invalid records removed; clean dataset ready for feature engineering.</a:t>
            </a:r>
          </a:p>
          <a:p>
            <a:pPr algn="ctr">
              <a:lnSpc>
                <a:spcPts val="38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230600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FEATURE ENGINEERING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59735"/>
            <a:ext cx="16230600" cy="627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Customer Behavior: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TENURE – months of relationship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MONTHLY_CHARGES – subscription cost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SUPPORT_CALLS – calls to support (count)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DATA_USAGE – monthly data consumption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Time-Based Features: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DAYS_SINCE_RECHARGE – days since last payment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TENURE_GROUP – categorical (NEW: &lt;6mo, MID: 6-12mo, OLD: &gt;12mo)</a:t>
            </a:r>
          </a:p>
          <a:p>
            <a:pPr algn="l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Target Variable:</a:t>
            </a:r>
          </a:p>
          <a:p>
            <a:pPr algn="l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CHURN_LABEL – 1 if churned, 0 otherwise</a:t>
            </a:r>
          </a:p>
          <a:p>
            <a:pPr algn="l">
              <a:lnSpc>
                <a:spcPts val="454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3421" y="2127451"/>
            <a:ext cx="12001158" cy="6811047"/>
          </a:xfrm>
          <a:custGeom>
            <a:avLst/>
            <a:gdLst/>
            <a:ahLst/>
            <a:cxnLst/>
            <a:rect r="r" b="b" t="t" l="l"/>
            <a:pathLst>
              <a:path h="6811047" w="12001158">
                <a:moveTo>
                  <a:pt x="0" y="0"/>
                </a:moveTo>
                <a:lnTo>
                  <a:pt x="12001158" y="0"/>
                </a:lnTo>
                <a:lnTo>
                  <a:pt x="12001158" y="6811046"/>
                </a:lnTo>
                <a:lnTo>
                  <a:pt x="0" y="681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230600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FEATURE ENGINEERING SQL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15470"/>
            <a:ext cx="8552217" cy="3555691"/>
          </a:xfrm>
          <a:custGeom>
            <a:avLst/>
            <a:gdLst/>
            <a:ahLst/>
            <a:cxnLst/>
            <a:rect r="r" b="b" t="t" l="l"/>
            <a:pathLst>
              <a:path h="3555691" w="8552217">
                <a:moveTo>
                  <a:pt x="0" y="0"/>
                </a:moveTo>
                <a:lnTo>
                  <a:pt x="8552217" y="0"/>
                </a:lnTo>
                <a:lnTo>
                  <a:pt x="8552217" y="3555691"/>
                </a:lnTo>
                <a:lnTo>
                  <a:pt x="0" y="3555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77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5375"/>
            <a:ext cx="16230600" cy="169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TRAIN-TEST SPLIT &amp; DATA PREPARATION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36732" y="3019542"/>
            <a:ext cx="7422568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Result: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</a:p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TRAIN_CUSTOMERS: ~400 customers (model learns patterns)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</a:p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TEST_CUSTOMERS: ~100 customers (model evaluation)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</a:p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Both tables contain all engineered features + CHURN_LABEL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3335"/>
            <a:ext cx="7242917" cy="7074965"/>
          </a:xfrm>
          <a:custGeom>
            <a:avLst/>
            <a:gdLst/>
            <a:ahLst/>
            <a:cxnLst/>
            <a:rect r="r" b="b" t="t" l="l"/>
            <a:pathLst>
              <a:path h="7074965" w="7242917">
                <a:moveTo>
                  <a:pt x="0" y="0"/>
                </a:moveTo>
                <a:lnTo>
                  <a:pt x="7242917" y="0"/>
                </a:lnTo>
                <a:lnTo>
                  <a:pt x="7242917" y="7074965"/>
                </a:lnTo>
                <a:lnTo>
                  <a:pt x="0" y="7074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5375"/>
            <a:ext cx="16230600" cy="8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PREDICTIONS &amp;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4865" y="2116660"/>
            <a:ext cx="8714435" cy="798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Interpretation: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PREDICTION = 1 → Customer flagged as high churn risk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PREDICTION = 0 → Customer flagged as low risk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Actions: Target high-risk customers with retention offers</a:t>
            </a:r>
          </a:p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Business Value: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CRM teams access predictions for targeted campaigns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Dashboards visualize churn distribution by segment</a:t>
            </a:r>
          </a:p>
          <a:p>
            <a:pPr algn="l" marL="701674" indent="-350837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Sales alerts identify at-risk accounts</a:t>
            </a:r>
          </a:p>
          <a:p>
            <a:pPr algn="l">
              <a:lnSpc>
                <a:spcPts val="45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95375"/>
            <a:ext cx="16230600" cy="8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6099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40583"/>
            <a:ext cx="16230600" cy="684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Engineering Pipeline: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✅Transformed raw customer data into 8 meaningful features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Store: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CUSTOMER_FEATURES table serves as centralized feature repository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Pipeline: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Raw → Clean → Features → Train/Test → Predictions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In-Database ML: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Rule-based churn scoring implemented using Snowpark Python</a:t>
            </a:r>
          </a:p>
          <a:p>
            <a:pPr algn="l">
              <a:lnSpc>
                <a:spcPts val="4549"/>
              </a:lnSpc>
            </a:pPr>
          </a:p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Production Ready:</a:t>
            </a:r>
            <a:r>
              <a:rPr lang="en-US" sz="3249">
                <a:solidFill>
                  <a:srgbClr val="6E48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Predictions stored back in Snowflake for dashboards &amp; CRM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511425"/>
            <a:ext cx="16230600" cy="551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0"/>
              </a:lnSpc>
            </a:pPr>
            <a:r>
              <a:rPr lang="en-US" sz="20000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THANK</a:t>
            </a:r>
          </a:p>
          <a:p>
            <a:pPr algn="ctr">
              <a:lnSpc>
                <a:spcPts val="21400"/>
              </a:lnSpc>
            </a:pPr>
            <a:r>
              <a:rPr lang="en-US" sz="20000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DAG7NzCHIHM</dc:identifier>
  <dcterms:modified xsi:type="dcterms:W3CDTF">2011-08-01T06:04:30Z</dcterms:modified>
  <cp:revision>1</cp:revision>
  <dc:title>Customer Churn Prediction Using Snowflake Feature Engineering &amp; Machine Learning</dc:title>
</cp:coreProperties>
</file>